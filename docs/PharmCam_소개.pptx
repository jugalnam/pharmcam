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24B"/>
          </a:solidFill>
          <a:ln/>
        </p:spPr>
      </p:sp>
      <p:pic>
        <p:nvPicPr>
          <p:cNvPr id="3" name="Image 0" descr="C:\Users\User\dev\pharmcam-ppt\images\shiel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9784080" y="7772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· 데이터 무결성 · CSV 밸리데이션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9808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PharmCam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QC를 위한 검체·시료 사진 기록 데스크톱 앱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찍는 순간 </a:t>
            </a:r>
            <a:pPr indent="0" marL="0">
              <a:buNone/>
            </a:pPr>
            <a:r>
              <a:rPr lang="en-US" sz="1600" b="1" dirty="0">
                <a:solidFill>
                  <a:srgbClr val="E2C7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자동 각인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원본 </a:t>
            </a:r>
            <a:pPr indent="0" marL="0">
              <a:buNone/>
            </a:pPr>
            <a:r>
              <a:rPr lang="en-US" sz="1600" b="1" dirty="0">
                <a:solidFill>
                  <a:srgbClr val="E2C7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 봉인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지울 수 없는 </a:t>
            </a:r>
            <a:pPr indent="0" marL="0">
              <a:buNone/>
            </a:pPr>
            <a:r>
              <a:rPr lang="en-US" sz="1600" b="1" dirty="0">
                <a:solidFill>
                  <a:srgbClr val="E2C7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· Electron + React + TypeScript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 ·  왜 필요한가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기록과 일반 카메라로는 부족합니다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429000" cy="10972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찍었는지 모른다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사진만으로는 작업자·일시·시험번호를 증명할 수 없다. GMP의 첫 원칙 Attributable(귀속) 위반.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3429000" cy="10972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48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바꿀 수 있다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파일은 교체·수정·삭제가 쉽다. 원본임을 보장하지 못하면 데이터로 인정받지 못한다.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28800"/>
            <a:ext cx="3429000" cy="10972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48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이력이 남지 않는다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무엇을 했는지 추적할 수 없다. 감사(audit) 시 증빙이 불가능하다.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PharmCam은 이 세 가지를 </a:t>
            </a:r>
            <a:pPr algn="ctr" indent="0" marL="0">
              <a:buNone/>
            </a:pPr>
            <a:r>
              <a:rPr lang="en-US" sz="16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레벨에서 강제</a:t>
            </a:r>
            <a:pPr algn="ctr" indent="0" marL="0">
              <a:buNone/>
            </a:pPr>
            <a:r>
              <a:rPr lang="en-US" sz="16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 — 끌 수 없는 무결성 코어로.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PRINCIPLE  ·  데이터 무결성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ALCOA+ 원칙을 코드로 보장합니다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" y="1920240"/>
            <a:ext cx="21214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0996" y="2240280"/>
            <a:ext cx="822960" cy="82296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C8A24B"/>
            </a:solidFill>
            <a:prstDash val="solid"/>
          </a:ln>
        </p:spPr>
      </p:sp>
      <p:pic>
        <p:nvPicPr>
          <p:cNvPr id="6" name="Image 0" descr="C:\Users\User\dev\pharmcam-ppt\images\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" y="3246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Attributable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3212" y="3639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" y="4069080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로그인한 작업자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없이는 기록 없음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7772" y="1920240"/>
            <a:ext cx="21214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6996" y="2240280"/>
            <a:ext cx="822960" cy="82296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C8A24B"/>
            </a:solidFill>
            <a:prstDash val="solid"/>
          </a:ln>
        </p:spPr>
      </p:sp>
      <p:pic>
        <p:nvPicPr>
          <p:cNvPr id="12" name="Image 1" descr="C:\Users\User\dev\pharmcam-ppt\images\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9212" y="3246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Legible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39212" y="3639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가독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84932" y="4069080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사람·기계가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명확한 기록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33772" y="1920240"/>
            <a:ext cx="21214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82996" y="2240280"/>
            <a:ext cx="822960" cy="82296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C8A24B"/>
            </a:solidFill>
            <a:prstDash val="solid"/>
          </a:ln>
        </p:spPr>
      </p:sp>
      <p:pic>
        <p:nvPicPr>
          <p:cNvPr id="18" name="Image 2" descr="C:\Users\User\dev\pharmcam-ppt\images\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423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5212" y="3246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Contemporaneous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25212" y="3639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동시성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170932" y="4069080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시각으로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행위 즉시 기록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9772" y="1920240"/>
            <a:ext cx="21214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68996" y="2240280"/>
            <a:ext cx="822960" cy="82296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C8A24B"/>
            </a:solidFill>
            <a:prstDash val="solid"/>
          </a:ln>
        </p:spPr>
      </p:sp>
      <p:pic>
        <p:nvPicPr>
          <p:cNvPr id="24" name="Image 3" descr="C:\Users\User\dev\pharmcam-ppt\images\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6" y="24231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11212" y="3246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Original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11212" y="3639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원본성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56932" y="4069080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원본을 SHA-256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해시로 봉인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605772" y="1920240"/>
            <a:ext cx="21214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54996" y="2240280"/>
            <a:ext cx="822960" cy="82296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C8A24B"/>
            </a:solidFill>
            <a:prstDash val="solid"/>
          </a:ln>
        </p:spPr>
      </p:sp>
      <p:pic>
        <p:nvPicPr>
          <p:cNvPr id="30" name="Image 4" descr="C:\Users\User\dev\pharmcam-ppt\image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42316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7212" y="3246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Accurate (+)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697212" y="3639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742932" y="4069080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append-only로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완전·일관 보장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spc="1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L · C · O · A  +  Complete · Consistent · Enduring ·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  ·  설계 철학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엄격한 무결성 코어 + 회사별 설정 유연성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solidFill>
            <a:srgbClr val="141A3C"/>
          </a:solidFill>
          <a:ln w="19050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C:\Users\User\dev\pharmcam-ppt\images\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12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· 필수 코어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 수 없음 — 데이터 무결성의 근간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31546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 (append-only)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식별·귀속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보호 (해시·읽기전용)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시각 (단일 출처)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메타데이터 강제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349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1" name="Image 1" descr="C:\Users\User\dev\pharmcam-ppt\images\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212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· 설정 가능 모듈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42632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회사별 on/off · 값 조정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65392" y="31546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전자서명 (on/off · 적용 행위)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(내장 / 자체 / 경로)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위치 · 보존기간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메타데이터 항목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정책 · 세션 타임아웃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"전자서명 off"는 가능 — 하지만 "감사추적 off"는 불가합니다.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  ·  화면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탭, 역할에 따라 보이는 메뉴가 다릅니다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6908" y="18745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C:\Users\User\dev\pharmcam-ppt\images\tab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1945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4268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1228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1228" y="32918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" y="32918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4700" y="18745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1" name="Image 1" descr="C:\Users\User\dev\pharmcam-ppt\images\tab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1945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52060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8902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목록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589020" y="32918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1"/>
          <p:cNvSpPr/>
          <p:nvPr/>
        </p:nvSpPr>
        <p:spPr>
          <a:xfrm>
            <a:off x="3589020" y="32918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22492" y="18745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7" name="Image 2" descr="C:\Users\User\dev\pharmcam-ppt\images\tab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219456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9852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496812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96812" y="32918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6"/>
          <p:cNvSpPr/>
          <p:nvPr/>
        </p:nvSpPr>
        <p:spPr>
          <a:xfrm>
            <a:off x="6496812" y="32918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30284" y="18745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3" name="Image 3" descr="C:\Users\User\dev\pharmcam-ppt\images\tab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219456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67644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404604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관리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9404604" y="32918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27" name="Text 21"/>
          <p:cNvSpPr/>
          <p:nvPr/>
        </p:nvSpPr>
        <p:spPr>
          <a:xfrm>
            <a:off x="9404604" y="32918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860804" y="3913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9" name="Image 4" descr="C:\Users\User\dev\pharmcam-ppt\images\tab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124" y="4233672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98164" y="41696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2135124" y="49194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2135124" y="53309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33" name="Text 26"/>
          <p:cNvSpPr/>
          <p:nvPr/>
        </p:nvSpPr>
        <p:spPr>
          <a:xfrm>
            <a:off x="2135124" y="5330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768596" y="3913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35" name="Image 5" descr="C:\Users\User\dev\pharmcam-ppt\images\tabSyste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916" y="4233672"/>
            <a:ext cx="594360" cy="5943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05956" y="41696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5042916" y="49194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점검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5042916" y="53309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39" name="Text 31"/>
          <p:cNvSpPr/>
          <p:nvPr/>
        </p:nvSpPr>
        <p:spPr>
          <a:xfrm>
            <a:off x="5042916" y="5330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7676388" y="3913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41" name="Image 6" descr="C:\Users\User\dev\pharmcam-ppt\images\tabHe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708" y="4233672"/>
            <a:ext cx="594360" cy="5943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413748" y="41696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7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43" name="Text 34"/>
          <p:cNvSpPr/>
          <p:nvPr/>
        </p:nvSpPr>
        <p:spPr>
          <a:xfrm>
            <a:off x="7950708" y="49194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</a:t>
            </a:r>
            <a:endParaRPr lang="en-US" sz="1800" dirty="0"/>
          </a:p>
        </p:txBody>
      </p:sp>
      <p:sp>
        <p:nvSpPr>
          <p:cNvPr id="44" name="Shape 35"/>
          <p:cNvSpPr/>
          <p:nvPr/>
        </p:nvSpPr>
        <p:spPr>
          <a:xfrm>
            <a:off x="7950708" y="533095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5" name="Text 36"/>
          <p:cNvSpPr/>
          <p:nvPr/>
        </p:nvSpPr>
        <p:spPr>
          <a:xfrm>
            <a:off x="7950708" y="53309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01 / 07</a:t>
            </a:r>
            <a:endParaRPr lang="en-US" sz="1200" dirty="0"/>
          </a:p>
        </p:txBody>
      </p:sp>
      <p:pic>
        <p:nvPicPr>
          <p:cNvPr id="3" name="Image 0" descr="C:\Users\User\dev\pharmcam-ppt\images\tab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사용자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검체를 찍는 순간, 위·변조 없는 기록이 시작됩니다.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시험번호·작업자·일시 등 메타데이터를 사진에 자동 각인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항목이 비면 저장이 차단됩니다 (Attributable).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연결된 카메라를 선택·전환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전·후면, 외장 웹캠 등 장치를 골라 촬영합니다.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즉시 원본을 SHA-256 해시로 봉인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저장공간이 부족하면 미리 경고합니다.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1813370"/>
            <a:ext cx="6848856" cy="4328541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1_cap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7378"/>
            <a:ext cx="6720840" cy="4200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6187631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촬영 탭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02 / 07</a:t>
            </a:r>
            <a:endParaRPr lang="en-US" sz="1200" dirty="0"/>
          </a:p>
        </p:txBody>
      </p:sp>
      <p:pic>
        <p:nvPicPr>
          <p:cNvPr id="3" name="Image 0" descr="C:\Users\User\dev\pharmcam-ppt\images\tab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목록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사용자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찍은 기록을 날짜·작업자로 찾고, 상세를 확인·인쇄합니다.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권한별 조회 범위 분리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작업자는 본인 기록만, 검토자·관리자는 전체 + 작업자 필터.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상세 화면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사진·메타데이터·해시값을 한 화면에서 확인합니다.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통제 인쇄 (Controlled Print)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전 원본 해시를 검증하고, 인쇄 행위도 감사추적에 남깁니다.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2770156"/>
            <a:ext cx="6848856" cy="2414969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2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34164"/>
            <a:ext cx="6720840" cy="228695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5230844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기록 목록 탭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03 / 07</a:t>
            </a:r>
            <a:endParaRPr lang="en-US" sz="1200" dirty="0"/>
          </a:p>
        </p:txBody>
      </p:sp>
      <p:pic>
        <p:nvPicPr>
          <p:cNvPr id="3" name="Image 0" descr="C:\Users\User\dev\pharmcam-ppt\images\tab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사용자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· 언제 · 무엇을 했는지, 지울 수 없는 기록.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행위를 append-only로 기록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촬영·수정·설정 변경까지 — 수정·삭제 자체가 불가능합니다.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해시체인 검증 (verifyChain)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한 줄이라도 변조되면 즉시 탐지됩니다.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+ 내보내기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날짜·사용자로 조회하고 CSV·PDF로 출력합니다.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2060734"/>
            <a:ext cx="6848856" cy="3833812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3_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24742"/>
            <a:ext cx="6720840" cy="370579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5940266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감사추적 탭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04 / 07</a:t>
            </a:r>
            <a:endParaRPr lang="en-US" sz="1200" dirty="0"/>
          </a:p>
        </p:txBody>
      </p:sp>
      <p:pic>
        <p:nvPicPr>
          <p:cNvPr id="3" name="Image 0" descr="C:\Users\User\dev\pharmcam-ppt\images\tab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관리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식별의 출발점 — 계정과 권한을 관리합니다.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생성·비활성화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대신 비활성화로 과거 기록의 귀속을 보존합니다.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권한 매트릭스 조회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작업자·검토자·관리자가 무엇을 할 수 있는지 한눈에 봅니다.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계정 변경은 감사추적 기록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계정을 바꿨는지 추적됩니다.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1813370"/>
            <a:ext cx="6848856" cy="4328541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4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7378"/>
            <a:ext cx="6720840" cy="4200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6187631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계정 관리 탭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05 / 07</a:t>
            </a:r>
            <a:endParaRPr lang="en-US" sz="1200" dirty="0"/>
          </a:p>
        </p:txBody>
      </p:sp>
      <p:pic>
        <p:nvPicPr>
          <p:cNvPr id="3" name="Image 0" descr="C:\Users\User\dev\pharmcam-ppt\images\tab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회사에 맞게 켜고 끄되, 무결성 코어는 잠겨 있습니다.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가능 모듈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전자서명·백업·저장 위치·메타데이터 항목 등을 회사별로 조정합니다.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코어 설정은 잠금 (core_locked)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감사추적·무결성·시각 등은 설정으로도 끌 수 없습니다.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변경 자체가 통제 대상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켜고 껐는지 감사추적에 기록됩니다.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1813370"/>
            <a:ext cx="6848856" cy="4328541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5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7378"/>
            <a:ext cx="6720840" cy="4200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6187631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설정 탭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06 / 07</a:t>
            </a:r>
            <a:endParaRPr lang="en-US" sz="1200" dirty="0"/>
          </a:p>
        </p:txBody>
      </p:sp>
      <p:pic>
        <p:nvPicPr>
          <p:cNvPr id="3" name="Image 0" descr="C:\Users\User\dev\pharmcam-ppt\images\tab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점검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전용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제대로 됐는지 스스로 점검합니다 (IQ 자가진단).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보안·권한 확인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암호화 저장(safeStorage)·데이터 폴더 쓰기 권한을 점검합니다.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무결성·잠금 확인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해시체인(verifyChain)과 코어 설정 잠금 상태를 검증합니다.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위치 표시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실제로 저장되는 폴더 경로를 보여줍니다.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2819162"/>
            <a:ext cx="6848856" cy="2316956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6_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83170"/>
            <a:ext cx="6720840" cy="21889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518183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환경 점검 탭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07 / 07</a:t>
            </a:r>
            <a:endParaRPr lang="en-US" sz="1200" dirty="0"/>
          </a:p>
        </p:txBody>
      </p:sp>
      <p:pic>
        <p:nvPicPr>
          <p:cNvPr id="3" name="Image 0" descr="C:\Users\User\dev\pharmcam-ppt\images\tab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676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0" y="77724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0" y="7772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사용자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안에서 바로 보는 사용 안내.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71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099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인앱 도움말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429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기능 사용법을 앱을 벗어나지 않고 즉시 확인합니다.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114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242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233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친화적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72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매뉴얼 없이 촬영 현장에서 참고할 수 있습니다.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5257800"/>
            <a:ext cx="73152" cy="9875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38581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역할 접근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7150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작업자·검토자·관리자 모두 열람할 수 있습니다.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19472" y="1813370"/>
            <a:ext cx="6848856" cy="4328541"/>
          </a:xfrm>
          <a:prstGeom prst="rect">
            <a:avLst/>
          </a:prstGeom>
          <a:solidFill>
            <a:srgbClr val="1E2761"/>
          </a:solidFill>
          <a:ln w="15875">
            <a:solidFill>
              <a:srgbClr val="C8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24" name="Image 1" descr="C:\Users\User\dev\pharmcam-ppt\shots_crop\7_he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7378"/>
            <a:ext cx="6720840" cy="4200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6187631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앱 화면 · 도움말 탭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 THE HOOD  ·  기술 &amp; 보안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폐쇄망에서 동작하는 안전한 데스크톱 설계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2286000"/>
          </a:xfrm>
          <a:prstGeom prst="rect">
            <a:avLst/>
          </a:prstGeom>
          <a:solidFill>
            <a:srgbClr val="141A3C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C:\Users\User\dev\pharmcam-ppt\images\stackElec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Electron + React + 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앱 · electron-vite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606040" cy="2286000"/>
          </a:xfrm>
          <a:prstGeom prst="rect">
            <a:avLst/>
          </a:prstGeom>
          <a:solidFill>
            <a:srgbClr val="141A3C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0" name="Image 1" descr="C:\Users\User\dev\pharmcam-ppt\images\stack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488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better-sqlite3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SQLite DB · 폐쇄망 운영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828800"/>
            <a:ext cx="2606040" cy="2286000"/>
          </a:xfrm>
          <a:prstGeom prst="rect">
            <a:avLst/>
          </a:prstGeom>
          <a:solidFill>
            <a:srgbClr val="141A3C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4" name="Image 2" descr="C:\Users\User\dev\pharmcam-ppt\images\stack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488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argon2 + safeStorage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해시 · DPAPI 키 보호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006840" y="1828800"/>
            <a:ext cx="2606040" cy="2286000"/>
          </a:xfrm>
          <a:prstGeom prst="rect">
            <a:avLst/>
          </a:prstGeom>
          <a:solidFill>
            <a:srgbClr val="141A3C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pic>
        <p:nvPicPr>
          <p:cNvPr id="18" name="Image 3" descr="C:\Users\User\dev\pharmcam-ppt\images\stackH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4884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SHA-256 해시체인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23544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원본·감사추적 무결성 검증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434840"/>
            <a:ext cx="10908792" cy="1783080"/>
          </a:xfrm>
          <a:prstGeom prst="rect">
            <a:avLst/>
          </a:prstGeom>
          <a:solidFill>
            <a:srgbClr val="232C5C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1440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설계 원칙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로직은 Main 프로세스에만 — UI는 IPC로만 접근 (contextIsolation)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감사추적은 DB 트리거로도 수정·삭제 차단 (append-only)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네트워크 호출·자동 업데이트 없음 (폐쇄망 전제)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24B"/>
          </a:solidFill>
          <a:ln/>
        </p:spPr>
      </p:sp>
      <p:pic>
        <p:nvPicPr>
          <p:cNvPr id="3" name="Image 0" descr="C:\Users\User\dev\pharmcam-ppt\images\shiel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058400" y="6400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만들면서 가르친다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8096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PharmCam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비개발자(제약 QC 실무자)가 AI로 규제 수준의 소프트웨어를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절차에 맞춰 만들어 가는 오픈소스 프로젝트</a:t>
            </a:r>
            <a:endParaRPr lang="en-US" sz="1800" dirty="0"/>
          </a:p>
        </p:txBody>
      </p:sp>
      <p:pic>
        <p:nvPicPr>
          <p:cNvPr id="7" name="Image 1" descr="C:\Users\User\dev\pharmcam-ppt\images\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github.com/Jugalnam/PharmCam</a:t>
            </a:r>
            <a:endParaRPr lang="en-US" sz="1500" dirty="0"/>
          </a:p>
        </p:txBody>
      </p:sp>
      <p:pic>
        <p:nvPicPr>
          <p:cNvPr id="9" name="Image 2" descr="C:\Users\User\dev\pharmcam-ppt\images\d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634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 License · 자유롭게 사용·개량 가능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solidFill>
            <a:srgbClr val="141A3C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12" name="Image 3" descr="C:\Users\User\dev\pharmcam-ppt\images\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65099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1640" y="55321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사용 주의: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무보증(AS-IS) 제공. 실제 규제 환경에서 쓰려면 사용 주체가 IQ/OQ/PQ 검증을 직접 수행해야 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PharmCam 소개</dc:title>
  <dc:subject>PptxGenJS Presentation</dc:subject>
  <dc:creator>PharmCam</dc:creator>
  <cp:lastModifiedBy>PharmCam</cp:lastModifiedBy>
  <cp:revision>1</cp:revision>
  <dcterms:created xsi:type="dcterms:W3CDTF">2026-06-19T07:36:11Z</dcterms:created>
  <dcterms:modified xsi:type="dcterms:W3CDTF">2026-06-19T07:36:11Z</dcterms:modified>
</cp:coreProperties>
</file>